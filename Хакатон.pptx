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Merriweather Light" pitchFamily="2" charset="0"/>
      <p:regular r:id="rId18"/>
      <p: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86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1.fntdata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font" Target="fonts/font4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3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6.fntdata" /><Relationship Id="rId10" Type="http://schemas.openxmlformats.org/officeDocument/2006/relationships/slide" Target="slides/slide9.xml" /><Relationship Id="rId19" Type="http://schemas.openxmlformats.org/officeDocument/2006/relationships/font" Target="fonts/font2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5.fntdata" /><Relationship Id="rId2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19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6.svg" /><Relationship Id="rId5" Type="http://schemas.openxmlformats.org/officeDocument/2006/relationships/image" Target="../media/image5.svg" /><Relationship Id="rId4" Type="http://schemas.openxmlformats.org/officeDocument/2006/relationships/image" Target="../media/image4.sv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3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4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5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217539"/>
            <a:ext cx="2424113" cy="426244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285524"/>
            <a:ext cx="215193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СТУДЕНЧЕСКИЙ ПРОЕКТ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734508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ХАКАТОН СТУДЕНЧЕСКИХ ПРОЕКТОВ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793790" y="50311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цифровых сервисов и прототипов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6491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студентов 1–2 курса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25667"/>
            <a:ext cx="1348621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601272"/>
            <a:ext cx="10612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 ФОРМАТЕ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57876"/>
            <a:ext cx="57066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Что такое хакатон?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106817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24" y="3341251"/>
            <a:ext cx="35056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⚡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Интенсивная работа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383166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Сжатые сроки, высокая концентрация, командный темп — всё как в реальном продуктовом спринте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106817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2982" y="3341251"/>
            <a:ext cx="3384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🛠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Прототип продукта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62982" y="383166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 не просто придумываете идею — вы воплощаете её в работающий цифровой продукт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018723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224" y="5253157"/>
            <a:ext cx="28388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🎯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Реальная задача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8224" y="5743575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команда решает конкретную практическую проблему из предложенных кейсов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5018723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982" y="5253157"/>
            <a:ext cx="32945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🎤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Финальная защита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62982" y="5743575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конце — презентация проекта перед комиссией и демонстрация работающего решения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36414"/>
            <a:ext cx="201989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912019"/>
            <a:ext cx="17324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ЗАЧЕМ ЭТО НУЖНО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686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Цель хакатона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2417564"/>
            <a:ext cx="6571417" cy="4975503"/>
          </a:xfrm>
          <a:prstGeom prst="roundRect">
            <a:avLst>
              <a:gd name="adj" fmla="val 3282"/>
            </a:avLst>
          </a:prstGeom>
          <a:solidFill>
            <a:srgbClr val="510C04"/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2644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Главная цель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3225522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Создать работающий </a:t>
            </a:r>
            <a:r>
              <a:rPr lang="en-US" sz="1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MVP цифрового продукта</a:t>
            </a: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минимальную версию сервиса, которая реально решает задачу пользователя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2679740"/>
            <a:ext cx="340162" cy="3401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36637" y="2672715"/>
            <a:ext cx="47965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Разработка цифровых решений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336637" y="3253859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 идеи до прототипа за короткое время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4077414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6637" y="4070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Командная работа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336637" y="4651534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Распределение ролей, совместное принятие решений</a:t>
            </a:r>
            <a:endParaRPr lang="en-US" sz="1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5837992"/>
            <a:ext cx="340162" cy="3401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36637" y="5830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Практика знаний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8336637" y="6412111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Применение изученных технологий в реальном контексте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13485"/>
            <a:ext cx="1925717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289090"/>
            <a:ext cx="163830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ФОРМАТ УЧАСТИЯ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456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Формат работы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7946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Команды разрабатывают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прототип цифрового продукта (MVP)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Допустимы любые технологии и платформы.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412688"/>
            <a:ext cx="566976" cy="566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4253" y="3412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Веб-приложение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44253" y="390310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Браузерный интерфейс, доступный с любого устройства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412688"/>
            <a:ext cx="566976" cy="566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6356" y="3412688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Мобильное приложение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086356" y="425743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iOS или Android, нативное или кроссплатформенное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412688"/>
            <a:ext cx="566976" cy="566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28459" y="3412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Чат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-</a:t>
            </a:r>
            <a:r>
              <a:rPr lang="en-US" sz="2200" b="1" dirty="0" err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бот</a:t>
            </a:r>
            <a:r>
              <a:rPr lang="ru-RU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(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MAX)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528459" y="390310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Чат-интерфейс с логикой обработки команд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445443"/>
            <a:ext cx="566976" cy="5669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44253" y="5445443"/>
            <a:ext cx="31855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Desktop-приложение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1644253" y="5935861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Настольное решение для Windows, macOS или Linux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99505"/>
            <a:ext cx="146708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875109"/>
            <a:ext cx="117967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31714"/>
            <a:ext cx="82546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Что должно быть в проекте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380655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270" y="2411135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FFD8CC"/>
          </a:solidFill>
          <a:ln/>
        </p:spPr>
      </p:sp>
      <p:sp>
        <p:nvSpPr>
          <p:cNvPr id="7" name="Text 5"/>
          <p:cNvSpPr/>
          <p:nvPr/>
        </p:nvSpPr>
        <p:spPr>
          <a:xfrm>
            <a:off x="3827621" y="253484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051084" y="3318391"/>
            <a:ext cx="29640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Прототип продукта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380880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Работающая версия системы с реализованным базовым функционалом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2380655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9027" y="2411135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FFD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0462498" y="253484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685842" y="3318391"/>
            <a:ext cx="28608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Описание решения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80880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Краткое объяснение проблемы, целевой аудитории и вашего подхода к решению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018723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270" y="5049203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FFD8CC"/>
          </a:solidFill>
          <a:ln/>
        </p:spPr>
      </p:sp>
      <p:sp>
        <p:nvSpPr>
          <p:cNvPr id="17" name="Text 15"/>
          <p:cNvSpPr/>
          <p:nvPr/>
        </p:nvSpPr>
        <p:spPr>
          <a:xfrm>
            <a:off x="3827621" y="51729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051084" y="5956459"/>
            <a:ext cx="32531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Презентация проекта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084" y="644687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Структурированные слайды по рекомендованной схеме — 7–10 слайдов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018723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9027" y="5049203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FFD8CC"/>
          </a:solidFill>
          <a:ln/>
        </p:spPr>
      </p:sp>
      <p:sp>
        <p:nvSpPr>
          <p:cNvPr id="22" name="Text 20"/>
          <p:cNvSpPr/>
          <p:nvPr/>
        </p:nvSpPr>
        <p:spPr>
          <a:xfrm>
            <a:off x="10462498" y="51729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7685842" y="5956459"/>
            <a:ext cx="33793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Демонстрация работы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85842" y="644687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Живой показ системы или запись экрана с демонстрацией ключевых функций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59067" y="438745"/>
            <a:ext cx="597218" cy="254198"/>
          </a:xfrm>
          <a:prstGeom prst="roundRect">
            <a:avLst>
              <a:gd name="adj" fmla="val 20138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2150388" y="484346"/>
            <a:ext cx="414576" cy="16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КЕЙСЫ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059067" y="733782"/>
            <a:ext cx="3808690" cy="476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Кейсы хакатона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2059067" y="1363266"/>
            <a:ext cx="10512147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хакатоне представлено </a:t>
            </a:r>
            <a:r>
              <a:rPr lang="en-US" sz="1150" b="1" dirty="0">
                <a:solidFill>
                  <a:srgbClr val="C9131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кейсов</a:t>
            </a: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команда выбирает один и разрабатывает по нему простой цифровой сервис или прототип.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351" y="1681996"/>
            <a:ext cx="7871460" cy="57900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33925" y="2357964"/>
            <a:ext cx="1868006" cy="88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 err="1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Умный</a:t>
            </a:r>
            <a:r>
              <a:rPr lang="en-US" sz="18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</a:t>
            </a:r>
            <a:r>
              <a:rPr lang="en-US" sz="1850" b="1" dirty="0" err="1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дедлайн</a:t>
            </a:r>
            <a:endParaRPr lang="ru-RU" sz="1850" b="1" dirty="0">
              <a:solidFill>
                <a:srgbClr val="000000"/>
              </a:solidFill>
              <a:latin typeface="Merriweather Bold" pitchFamily="34" charset="0"/>
              <a:ea typeface="Merriweather Bold" pitchFamily="34" charset="-122"/>
              <a:cs typeface="Merriweather Bold" pitchFamily="34" charset="-120"/>
            </a:endParaRPr>
          </a:p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 err="1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план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718314" y="3456816"/>
            <a:ext cx="2094395" cy="59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Платформа взаимопомощи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848726" y="4742435"/>
            <a:ext cx="2205012" cy="99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ru-RU" sz="18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Конструктор привычек с геймификацией</a:t>
            </a:r>
          </a:p>
        </p:txBody>
      </p:sp>
      <p:sp>
        <p:nvSpPr>
          <p:cNvPr id="10" name="Text 7"/>
          <p:cNvSpPr/>
          <p:nvPr/>
        </p:nvSpPr>
        <p:spPr>
          <a:xfrm>
            <a:off x="6821462" y="5956304"/>
            <a:ext cx="1888101" cy="11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Планировщик путешествий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106247" y="4844721"/>
            <a:ext cx="2007792" cy="88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ru-RU" sz="18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Трекер расходов с визуализацией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2059067" y="7587020"/>
            <a:ext cx="10512147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кейсы направлены на разработку решений, актуальных для студентов и молодёжи.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7830" y="1009531"/>
            <a:ext cx="823913" cy="386834"/>
          </a:xfrm>
          <a:prstGeom prst="roundRect">
            <a:avLst>
              <a:gd name="adj" fmla="val 18312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864275" y="1072753"/>
            <a:ext cx="5710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КЕЙС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7830" y="1474708"/>
            <a:ext cx="9109234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Умный планировщик дедлайнов</a:t>
            </a:r>
            <a:endParaRPr lang="en-US" sz="4150" dirty="0"/>
          </a:p>
        </p:txBody>
      </p:sp>
      <p:sp>
        <p:nvSpPr>
          <p:cNvPr id="5" name="Shape 3"/>
          <p:cNvSpPr/>
          <p:nvPr/>
        </p:nvSpPr>
        <p:spPr>
          <a:xfrm>
            <a:off x="737830" y="2647712"/>
            <a:ext cx="6320195" cy="1506379"/>
          </a:xfrm>
          <a:prstGeom prst="roundRect">
            <a:avLst>
              <a:gd name="adj" fmla="val 5878"/>
            </a:avLst>
          </a:prstGeom>
          <a:solidFill>
            <a:srgbClr val="FFC4B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71" y="2970490"/>
            <a:ext cx="263485" cy="2107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2797" y="2896195"/>
            <a:ext cx="5424487" cy="97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Проблема:</a:t>
            </a: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Студенты ежедневно сталкиваются с большим потоком задач, дедлайнов и учебных обязательств — и часто теряют контроль над ними.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7830" y="4374475"/>
            <a:ext cx="6320195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Задача:</a:t>
            </a: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Разработать удобный сервис для управления задачами и сроками их выполнения.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9995" y="2623185"/>
            <a:ext cx="394335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Минимальный функционал</a:t>
            </a:r>
            <a:endParaRPr lang="en-US" sz="2050" dirty="0"/>
          </a:p>
        </p:txBody>
      </p:sp>
      <p:sp>
        <p:nvSpPr>
          <p:cNvPr id="10" name="Shape 7"/>
          <p:cNvSpPr/>
          <p:nvPr/>
        </p:nvSpPr>
        <p:spPr>
          <a:xfrm>
            <a:off x="7579995" y="3172897"/>
            <a:ext cx="3062168" cy="1980128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57135" y="3172897"/>
            <a:ext cx="91440" cy="1980128"/>
          </a:xfrm>
          <a:prstGeom prst="roundRect">
            <a:avLst>
              <a:gd name="adj" fmla="val 96834"/>
            </a:avLst>
          </a:prstGeom>
          <a:solidFill>
            <a:srgbClr val="FFAD94"/>
          </a:solidFill>
          <a:ln/>
        </p:spPr>
      </p:sp>
      <p:sp>
        <p:nvSpPr>
          <p:cNvPr id="12" name="Text 9"/>
          <p:cNvSpPr/>
          <p:nvPr/>
        </p:nvSpPr>
        <p:spPr>
          <a:xfrm>
            <a:off x="7882176" y="3406497"/>
            <a:ext cx="2526387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➕</a:t>
            </a: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Добавление задач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7882176" y="4268629"/>
            <a:ext cx="2526387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новых задач с названием и описанием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0838021" y="3172897"/>
            <a:ext cx="3062168" cy="1980128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815161" y="3172897"/>
            <a:ext cx="91440" cy="1980128"/>
          </a:xfrm>
          <a:prstGeom prst="roundRect">
            <a:avLst>
              <a:gd name="adj" fmla="val 96834"/>
            </a:avLst>
          </a:prstGeom>
          <a:solidFill>
            <a:srgbClr val="FFAD94"/>
          </a:solidFill>
          <a:ln/>
        </p:spPr>
      </p:sp>
      <p:sp>
        <p:nvSpPr>
          <p:cNvPr id="16" name="Text 13"/>
          <p:cNvSpPr/>
          <p:nvPr/>
        </p:nvSpPr>
        <p:spPr>
          <a:xfrm>
            <a:off x="11140202" y="3406497"/>
            <a:ext cx="2526387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📅</a:t>
            </a: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Дедлайны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11140202" y="3939302"/>
            <a:ext cx="2526387" cy="97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Установка и отображение сроков выполнения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7579995" y="5348883"/>
            <a:ext cx="3062168" cy="1650802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57135" y="5348883"/>
            <a:ext cx="91440" cy="1650802"/>
          </a:xfrm>
          <a:prstGeom prst="roundRect">
            <a:avLst>
              <a:gd name="adj" fmla="val 96834"/>
            </a:avLst>
          </a:prstGeom>
          <a:solidFill>
            <a:srgbClr val="FFAD94"/>
          </a:solidFill>
          <a:ln/>
        </p:spPr>
      </p:sp>
      <p:sp>
        <p:nvSpPr>
          <p:cNvPr id="20" name="Text 17"/>
          <p:cNvSpPr/>
          <p:nvPr/>
        </p:nvSpPr>
        <p:spPr>
          <a:xfrm>
            <a:off x="7882176" y="5582483"/>
            <a:ext cx="2526387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📋</a:t>
            </a: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Список задач</a:t>
            </a:r>
            <a:endParaRPr lang="en-US" sz="2050" dirty="0"/>
          </a:p>
        </p:txBody>
      </p:sp>
      <p:sp>
        <p:nvSpPr>
          <p:cNvPr id="21" name="Text 18"/>
          <p:cNvSpPr/>
          <p:nvPr/>
        </p:nvSpPr>
        <p:spPr>
          <a:xfrm>
            <a:off x="7882176" y="6115288"/>
            <a:ext cx="2526387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Просмотр всех текущих и выполненных задач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0838021" y="5348883"/>
            <a:ext cx="3062168" cy="1650802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815161" y="5348883"/>
            <a:ext cx="91440" cy="1650802"/>
          </a:xfrm>
          <a:prstGeom prst="roundRect">
            <a:avLst>
              <a:gd name="adj" fmla="val 96834"/>
            </a:avLst>
          </a:prstGeom>
          <a:solidFill>
            <a:srgbClr val="FFAD94"/>
          </a:solidFill>
          <a:ln/>
        </p:spPr>
      </p:sp>
      <p:sp>
        <p:nvSpPr>
          <p:cNvPr id="24" name="Text 21"/>
          <p:cNvSpPr/>
          <p:nvPr/>
        </p:nvSpPr>
        <p:spPr>
          <a:xfrm>
            <a:off x="11140202" y="5582483"/>
            <a:ext cx="2526387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🔺</a:t>
            </a: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Сортировка</a:t>
            </a:r>
            <a:endParaRPr lang="en-US" sz="2050" dirty="0"/>
          </a:p>
        </p:txBody>
      </p:sp>
      <p:sp>
        <p:nvSpPr>
          <p:cNvPr id="25" name="Text 22"/>
          <p:cNvSpPr/>
          <p:nvPr/>
        </p:nvSpPr>
        <p:spPr>
          <a:xfrm>
            <a:off x="11140202" y="6115288"/>
            <a:ext cx="2526387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Упорядочивание по срочности или дате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01184"/>
            <a:ext cx="886301" cy="426244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69169"/>
            <a:ext cx="61412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КЕЙС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18153"/>
            <a:ext cx="114727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Платформа взаимопомощи студентов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722245"/>
            <a:ext cx="6244709" cy="2052518"/>
          </a:xfrm>
          <a:prstGeom prst="roundRect">
            <a:avLst>
              <a:gd name="adj" fmla="val 4642"/>
            </a:avLst>
          </a:prstGeom>
          <a:solidFill>
            <a:srgbClr val="FFC4B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3073956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3005733"/>
            <a:ext cx="52807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Проблема: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Студенты нередко нуждаются в помощи — с учёбой, бытовыми вопросами или поиском информации — но не знают, к кому обратиться.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02991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Задача: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Создать платформу, объединяющую тех, кто ищет помощь, и тех, кто готов её оказать.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2693908"/>
            <a:ext cx="30274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Ключевые функции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599521" y="3303389"/>
            <a:ext cx="3008948" cy="2130147"/>
          </a:xfrm>
          <a:prstGeom prst="roundRect">
            <a:avLst>
              <a:gd name="adj" fmla="val 447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33955" y="3537823"/>
            <a:ext cx="25400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📢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Запросы на помощь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833955" y="4473297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Публикация запросов с описанием задачи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835283" y="3303389"/>
            <a:ext cx="3008948" cy="2130147"/>
          </a:xfrm>
          <a:prstGeom prst="roundRect">
            <a:avLst>
              <a:gd name="adj" fmla="val 447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69717" y="3537823"/>
            <a:ext cx="25400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🔍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Поиск помощников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069717" y="4473297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Нахождение людей, готовых помочь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599521" y="5660350"/>
            <a:ext cx="6244709" cy="1412915"/>
          </a:xfrm>
          <a:prstGeom prst="roundRect">
            <a:avLst>
              <a:gd name="adj" fmla="val 6743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3955" y="5894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✅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Отклики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833955" y="6475928"/>
            <a:ext cx="57758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Ответы на запросы и организация помощи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19733"/>
            <a:ext cx="886301" cy="426244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87718"/>
            <a:ext cx="61412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КЕЙС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36702"/>
            <a:ext cx="10466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Трекер расходов с визуализацией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540794"/>
            <a:ext cx="6244709" cy="2052518"/>
          </a:xfrm>
          <a:prstGeom prst="roundRect">
            <a:avLst>
              <a:gd name="adj" fmla="val 4642"/>
            </a:avLst>
          </a:prstGeom>
          <a:solidFill>
            <a:srgbClr val="FFC4B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892504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2824282"/>
            <a:ext cx="52807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Проблема: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Многие люди не контролируют свои расходы и не имеют чёткого понимания, куда уходит их бюджет. Траты происходят спонтанно, фиксируются редко, из-за чего сложно анализировать финансовое поведение и принимать обоснованные решения.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3790" y="4848463"/>
            <a:ext cx="6244709" cy="1808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Задача: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Разработать сервис, который позволит пользователю фиксировать свои расходы, структурировать их по категориям и получать наглядное представление о своих тратах с помощью визуализации.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2512457"/>
            <a:ext cx="30274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Ключевые функции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599521" y="3121938"/>
            <a:ext cx="3008948" cy="2493050"/>
          </a:xfrm>
          <a:prstGeom prst="roundRect">
            <a:avLst>
              <a:gd name="adj" fmla="val 382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33955" y="3356372"/>
            <a:ext cx="25400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📊 </a:t>
            </a:r>
            <a:r>
              <a:rPr lang="ru-RU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Добавление расходов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833955" y="4291846"/>
            <a:ext cx="25400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вводит сумму и категорию траты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835283" y="3121938"/>
            <a:ext cx="3008948" cy="2493050"/>
          </a:xfrm>
          <a:prstGeom prst="roundRect">
            <a:avLst>
              <a:gd name="adj" fmla="val 382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69717" y="3356372"/>
            <a:ext cx="25400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📂 </a:t>
            </a:r>
            <a:r>
              <a:rPr lang="ru-RU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Категории расходов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069717" y="4291846"/>
            <a:ext cx="25400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Разделение трат (еда, транспорт, развлечения и т.д.)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599521" y="5841802"/>
            <a:ext cx="6244709" cy="1412915"/>
          </a:xfrm>
          <a:prstGeom prst="roundRect">
            <a:avLst>
              <a:gd name="adj" fmla="val 6743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3955" y="6076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📈 </a:t>
            </a:r>
            <a:r>
              <a:rPr lang="ru-RU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Визуализация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833955" y="6657380"/>
            <a:ext cx="57758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Диаграмма или график распределения расходов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8070" y="663416"/>
            <a:ext cx="835581" cy="393740"/>
          </a:xfrm>
          <a:prstGeom prst="roundRect">
            <a:avLst>
              <a:gd name="adj" fmla="val 18242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727472"/>
            <a:ext cx="579120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КЕЙС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8070" y="1137642"/>
            <a:ext cx="8012430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Планировщик путешествий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48070" y="2334220"/>
            <a:ext cx="6306383" cy="1538883"/>
          </a:xfrm>
          <a:prstGeom prst="roundRect">
            <a:avLst>
              <a:gd name="adj" fmla="val 5834"/>
            </a:avLst>
          </a:prstGeom>
          <a:solidFill>
            <a:srgbClr val="FFC4B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87" y="2658070"/>
            <a:ext cx="267176" cy="2137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2680" y="2588895"/>
            <a:ext cx="5398056" cy="996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Проблема:</a:t>
            </a: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Планирование поездки требует изучения множества источников, составления маршрута и организации расписания по дням.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8070" y="4099679"/>
            <a:ext cx="6306383" cy="66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Задача:</a:t>
            </a: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Создать сервис, упрощающий планирование путешествий от идеи до готового маршрута.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83567" y="2308979"/>
            <a:ext cx="3996809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Минимальный функционал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583567" y="2869525"/>
            <a:ext cx="6306383" cy="1355765"/>
          </a:xfrm>
          <a:prstGeom prst="roundRect">
            <a:avLst>
              <a:gd name="adj" fmla="val 1079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53087" y="2869525"/>
            <a:ext cx="121920" cy="1355765"/>
          </a:xfrm>
          <a:prstGeom prst="roundRect">
            <a:avLst>
              <a:gd name="adj" fmla="val 73639"/>
            </a:avLst>
          </a:prstGeom>
          <a:solidFill>
            <a:srgbClr val="FFAD94"/>
          </a:solidFill>
          <a:ln/>
        </p:spPr>
      </p:sp>
      <p:sp>
        <p:nvSpPr>
          <p:cNvPr id="12" name="Text 9"/>
          <p:cNvSpPr/>
          <p:nvPr/>
        </p:nvSpPr>
        <p:spPr>
          <a:xfrm>
            <a:off x="7919204" y="3113722"/>
            <a:ext cx="2925842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✈️</a:t>
            </a: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Создание поездки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919204" y="3649028"/>
            <a:ext cx="5726549" cy="332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Новый проект путешествия с названием и датами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583567" y="4426625"/>
            <a:ext cx="6306383" cy="1355765"/>
          </a:xfrm>
          <a:prstGeom prst="roundRect">
            <a:avLst>
              <a:gd name="adj" fmla="val 1079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53087" y="4426625"/>
            <a:ext cx="121920" cy="1355765"/>
          </a:xfrm>
          <a:prstGeom prst="roundRect">
            <a:avLst>
              <a:gd name="adj" fmla="val 73639"/>
            </a:avLst>
          </a:prstGeom>
          <a:solidFill>
            <a:srgbClr val="FFAD94"/>
          </a:solidFill>
          <a:ln/>
        </p:spPr>
      </p:sp>
      <p:sp>
        <p:nvSpPr>
          <p:cNvPr id="16" name="Text 13"/>
          <p:cNvSpPr/>
          <p:nvPr/>
        </p:nvSpPr>
        <p:spPr>
          <a:xfrm>
            <a:off x="7919204" y="4670822"/>
            <a:ext cx="2794159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📍</a:t>
            </a: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Добавление мест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919204" y="5206127"/>
            <a:ext cx="5726549" cy="332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Список мест для посещения с описанием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7583567" y="5983724"/>
            <a:ext cx="6306383" cy="1355765"/>
          </a:xfrm>
          <a:prstGeom prst="roundRect">
            <a:avLst>
              <a:gd name="adj" fmla="val 1079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53087" y="5983724"/>
            <a:ext cx="121920" cy="1355765"/>
          </a:xfrm>
          <a:prstGeom prst="roundRect">
            <a:avLst>
              <a:gd name="adj" fmla="val 73639"/>
            </a:avLst>
          </a:prstGeom>
          <a:solidFill>
            <a:srgbClr val="FFAD94"/>
          </a:solidFill>
          <a:ln/>
        </p:spPr>
      </p:sp>
      <p:sp>
        <p:nvSpPr>
          <p:cNvPr id="20" name="Text 17"/>
          <p:cNvSpPr/>
          <p:nvPr/>
        </p:nvSpPr>
        <p:spPr>
          <a:xfrm>
            <a:off x="7919204" y="6227921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📆</a:t>
            </a: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План по дням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919204" y="6763226"/>
            <a:ext cx="5726549" cy="332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Распределение мест по дням поездки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8066" y="860941"/>
            <a:ext cx="801648" cy="373023"/>
          </a:xfrm>
          <a:prstGeom prst="roundRect">
            <a:avLst>
              <a:gd name="adj" fmla="val 18481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841058" y="922377"/>
            <a:ext cx="555665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КЕЙС 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8066" y="1308140"/>
            <a:ext cx="9251513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ru-RU" sz="4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Конструктор привычек с геймификацией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18066" y="2436376"/>
            <a:ext cx="6346865" cy="1443752"/>
          </a:xfrm>
          <a:prstGeom prst="roundRect">
            <a:avLst>
              <a:gd name="adj" fmla="val 5969"/>
            </a:avLst>
          </a:prstGeom>
          <a:solidFill>
            <a:srgbClr val="FFC4B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11" y="2749391"/>
            <a:ext cx="256461" cy="2051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4816" y="2586186"/>
            <a:ext cx="5474970" cy="120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Проблема: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Люди часто испытывают сложности с формированием полезных привычек, так как быстро теряют мотивацию, не видят прогресса и не имеют удобного инструмента для регулярного отслеживания своих действий.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8066" y="4088844"/>
            <a:ext cx="6346865" cy="137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Задача: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Создать сервис, который поможет пользователю формировать и поддерживать привычки за счёт удобного отслеживания, визуализации прогресса и элементов геймификации, повышающих вовлечённость.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3089" y="2413159"/>
            <a:ext cx="3836432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Минимальный функционал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573089" y="2942392"/>
            <a:ext cx="6346865" cy="1282184"/>
          </a:xfrm>
          <a:prstGeom prst="roundRect">
            <a:avLst>
              <a:gd name="adj" fmla="val 8558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50229" y="2942392"/>
            <a:ext cx="91440" cy="1282184"/>
          </a:xfrm>
          <a:prstGeom prst="roundRect">
            <a:avLst>
              <a:gd name="adj" fmla="val 94239"/>
            </a:avLst>
          </a:prstGeom>
          <a:solidFill>
            <a:srgbClr val="FFAD94"/>
          </a:solidFill>
          <a:ln/>
        </p:spPr>
      </p:sp>
      <p:sp>
        <p:nvSpPr>
          <p:cNvPr id="12" name="Text 9"/>
          <p:cNvSpPr/>
          <p:nvPr/>
        </p:nvSpPr>
        <p:spPr>
          <a:xfrm>
            <a:off x="7869674" y="3170396"/>
            <a:ext cx="3317677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🔥 </a:t>
            </a:r>
            <a:r>
              <a:rPr lang="ru-RU" sz="2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Отслеживание привычек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869674" y="3684032"/>
            <a:ext cx="58222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отмечает выполнение действий каждый день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73089" y="4410075"/>
            <a:ext cx="6346865" cy="1282184"/>
          </a:xfrm>
          <a:prstGeom prst="roundRect">
            <a:avLst>
              <a:gd name="adj" fmla="val 8558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50229" y="4410075"/>
            <a:ext cx="91440" cy="1282184"/>
          </a:xfrm>
          <a:prstGeom prst="roundRect">
            <a:avLst>
              <a:gd name="adj" fmla="val 94239"/>
            </a:avLst>
          </a:prstGeom>
          <a:solidFill>
            <a:srgbClr val="FFAD94"/>
          </a:solidFill>
          <a:ln/>
        </p:spPr>
      </p:sp>
      <p:sp>
        <p:nvSpPr>
          <p:cNvPr id="16" name="Text 13"/>
          <p:cNvSpPr/>
          <p:nvPr/>
        </p:nvSpPr>
        <p:spPr>
          <a:xfrm>
            <a:off x="7869674" y="4638080"/>
            <a:ext cx="2564606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🏆 </a:t>
            </a:r>
            <a:r>
              <a:rPr lang="ru-RU" sz="2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Система достижений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869674" y="5151715"/>
            <a:ext cx="58222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Баллы, уровни или награды за регулярность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73089" y="5877758"/>
            <a:ext cx="6346865" cy="1282184"/>
          </a:xfrm>
          <a:prstGeom prst="roundRect">
            <a:avLst>
              <a:gd name="adj" fmla="val 8558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50229" y="5877758"/>
            <a:ext cx="91440" cy="1282184"/>
          </a:xfrm>
          <a:prstGeom prst="roundRect">
            <a:avLst>
              <a:gd name="adj" fmla="val 94239"/>
            </a:avLst>
          </a:prstGeom>
          <a:solidFill>
            <a:srgbClr val="FFAD94"/>
          </a:solidFill>
          <a:ln/>
        </p:spPr>
      </p:sp>
      <p:sp>
        <p:nvSpPr>
          <p:cNvPr id="20" name="Text 17"/>
          <p:cNvSpPr/>
          <p:nvPr/>
        </p:nvSpPr>
        <p:spPr>
          <a:xfrm>
            <a:off x="7869674" y="6105763"/>
            <a:ext cx="3904510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0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📊 Прогресс и серия дней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869674" y="6619399"/>
            <a:ext cx="58222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Отображение непрерывности выполнения привычек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07770"/>
            <a:ext cx="150328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283375"/>
            <a:ext cx="12158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ПОДГОТОВКА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39979"/>
            <a:ext cx="107509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Требования к презентации проекта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7889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команда готовит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7–10 слайдов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 следующей рекомендуемой структуре: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4069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3762018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3936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Название проекта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6962" y="34069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762018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1" name="Text 9"/>
          <p:cNvSpPr/>
          <p:nvPr/>
        </p:nvSpPr>
        <p:spPr>
          <a:xfrm>
            <a:off x="5216962" y="3936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0133" y="34069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762018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936325"/>
            <a:ext cx="2874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Целевая аудитория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46874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042535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216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Решение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16962" y="46874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5042535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0" name="Text 18"/>
          <p:cNvSpPr/>
          <p:nvPr/>
        </p:nvSpPr>
        <p:spPr>
          <a:xfrm>
            <a:off x="5216962" y="5216843"/>
            <a:ext cx="29332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Функциональность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40133" y="46874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9640133" y="5042535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3" name="Text 21"/>
          <p:cNvSpPr/>
          <p:nvPr/>
        </p:nvSpPr>
        <p:spPr>
          <a:xfrm>
            <a:off x="9640133" y="5216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Демонстрация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3790" y="596800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07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793790" y="6323052"/>
            <a:ext cx="13042702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6" name="Text 24"/>
          <p:cNvSpPr/>
          <p:nvPr/>
        </p:nvSpPr>
        <p:spPr>
          <a:xfrm>
            <a:off x="793790" y="6497360"/>
            <a:ext cx="35124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Перспективы развития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75" y="623292"/>
            <a:ext cx="1155383" cy="425887"/>
          </a:xfrm>
          <a:prstGeom prst="roundRect">
            <a:avLst>
              <a:gd name="adj" fmla="val 17879"/>
            </a:avLst>
          </a:prstGeom>
          <a:solidFill>
            <a:srgbClr val="FFD8C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045" y="745569"/>
            <a:ext cx="181213" cy="181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0864" y="691277"/>
            <a:ext cx="61162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БОНУС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075" y="1139666"/>
            <a:ext cx="8876943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Дополнительные баллы за Git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29841" y="2187297"/>
            <a:ext cx="6572131" cy="5419011"/>
          </a:xfrm>
          <a:prstGeom prst="roundRect">
            <a:avLst>
              <a:gd name="adj" fmla="val 3011"/>
            </a:avLst>
          </a:prstGeom>
          <a:solidFill>
            <a:srgbClr val="C91313"/>
          </a:solidFill>
          <a:ln/>
        </p:spPr>
      </p:sp>
      <p:sp>
        <p:nvSpPr>
          <p:cNvPr id="7" name="Text 4"/>
          <p:cNvSpPr/>
          <p:nvPr/>
        </p:nvSpPr>
        <p:spPr>
          <a:xfrm>
            <a:off x="856417" y="2413635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Зачем это важно?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6417" y="2993946"/>
            <a:ext cx="6118979" cy="144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Размещение кода в публичном репозитории — стандарт профессиональной разработки. Это демонстрирует зрелость команды и открытость проекта.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56417" y="4646890"/>
            <a:ext cx="6118979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Поддерживаются: </a:t>
            </a:r>
            <a:r>
              <a:rPr lang="en-US" sz="1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</a:t>
            </a: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GitLab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283" y="2413635"/>
            <a:ext cx="4875014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Репозиторий должен содержать: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599283" y="3022283"/>
            <a:ext cx="509826" cy="509826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35447" y="3100149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Исходный код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335447" y="3680460"/>
            <a:ext cx="5509498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Весь код проекта, организованный по папкам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599283" y="4495562"/>
            <a:ext cx="509826" cy="509826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5447" y="4573429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Описание проекта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335447" y="5153739"/>
            <a:ext cx="5509498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README с целью, функциями и стеком технологий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599283" y="6331148"/>
            <a:ext cx="509826" cy="509826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35447" y="6409015"/>
            <a:ext cx="3521988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Инструкция по запуску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335447" y="6989326"/>
            <a:ext cx="5509498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Пошаговое руководство для локального запуска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77910"/>
            <a:ext cx="945594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453515"/>
            <a:ext cx="6581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ФИНАЛ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101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Защита проекта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9590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Формат: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презентация перед комиссией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 последующими вопросами.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577114"/>
            <a:ext cx="13042821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3584734"/>
            <a:ext cx="6513790" cy="1669852"/>
          </a:xfrm>
          <a:prstGeom prst="roundRect">
            <a:avLst>
              <a:gd name="adj" fmla="val 5705"/>
            </a:avLst>
          </a:prstGeom>
          <a:solidFill>
            <a:srgbClr val="FFD8CC"/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381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🎤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5 минут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8224" y="4301966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Презентация проекта команды — проблема, решение, демонстрация прототипа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315200" y="3584734"/>
            <a:ext cx="6513790" cy="1669852"/>
          </a:xfrm>
          <a:prstGeom prst="rect">
            <a:avLst/>
          </a:prstGeom>
          <a:solidFill>
            <a:srgbClr val="FFD8C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3584734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E5BEB2"/>
          </a:solidFill>
          <a:ln/>
        </p:spPr>
      </p:sp>
      <p:sp>
        <p:nvSpPr>
          <p:cNvPr id="12" name="Text 10"/>
          <p:cNvSpPr/>
          <p:nvPr/>
        </p:nvSpPr>
        <p:spPr>
          <a:xfrm>
            <a:off x="7542014" y="381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❓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3 минуты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2014" y="4301966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Вопросы комиссии — будьте готовы обосновать технические и продуктовые решения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517356"/>
            <a:ext cx="13042821" cy="1334333"/>
          </a:xfrm>
          <a:prstGeom prst="roundRect">
            <a:avLst>
              <a:gd name="adj" fmla="val 7140"/>
            </a:avLst>
          </a:prstGeom>
          <a:solidFill>
            <a:srgbClr val="FFC4B3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869067"/>
            <a:ext cx="283488" cy="2268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30906" y="5800844"/>
            <a:ext cx="1207889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💡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Совет: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Заранее распределите роли в команде — кто говорит, кто управляет слайдами, кто показывает демо.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51353" y="1116449"/>
            <a:ext cx="586264" cy="257770"/>
          </a:xfrm>
          <a:prstGeom prst="roundRect">
            <a:avLst>
              <a:gd name="adj" fmla="val 19132"/>
            </a:avLst>
          </a:prstGeom>
          <a:noFill/>
          <a:ln w="762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46960" y="1168003"/>
            <a:ext cx="395049" cy="154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ИТОГИ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51353" y="1412200"/>
            <a:ext cx="3669387" cy="458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Критерии оценки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2251353" y="2108121"/>
            <a:ext cx="1963579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Основные критерии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51353" y="2444234"/>
            <a:ext cx="2394942" cy="1457444"/>
          </a:xfrm>
          <a:prstGeom prst="roundRect">
            <a:avLst>
              <a:gd name="adj" fmla="val 5019"/>
            </a:avLst>
          </a:prstGeom>
          <a:solidFill>
            <a:srgbClr val="FFFFFF"/>
          </a:solidFill>
          <a:ln w="15240">
            <a:solidFill>
              <a:srgbClr val="E5BE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36113" y="2444234"/>
            <a:ext cx="60960" cy="1457444"/>
          </a:xfrm>
          <a:prstGeom prst="roundRect">
            <a:avLst>
              <a:gd name="adj" fmla="val 101127"/>
            </a:avLst>
          </a:prstGeom>
          <a:solidFill>
            <a:srgbClr val="FFAD94"/>
          </a:solidFill>
          <a:ln/>
        </p:spPr>
      </p:sp>
      <p:sp>
        <p:nvSpPr>
          <p:cNvPr id="8" name="Text 6"/>
          <p:cNvSpPr/>
          <p:nvPr/>
        </p:nvSpPr>
        <p:spPr>
          <a:xfrm>
            <a:off x="2458998" y="2606159"/>
            <a:ext cx="2025372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🧠</a:t>
            </a: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Понимание проблемы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58998" y="3159681"/>
            <a:ext cx="202537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Чёткое понимание задачи и целевой аудитории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41188" y="2444234"/>
            <a:ext cx="2394942" cy="1457444"/>
          </a:xfrm>
          <a:prstGeom prst="roundRect">
            <a:avLst>
              <a:gd name="adj" fmla="val 5019"/>
            </a:avLst>
          </a:prstGeom>
          <a:solidFill>
            <a:srgbClr val="FFFFFF"/>
          </a:solidFill>
          <a:ln w="15240">
            <a:solidFill>
              <a:srgbClr val="E5BE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5948" y="2444234"/>
            <a:ext cx="60960" cy="1457444"/>
          </a:xfrm>
          <a:prstGeom prst="roundRect">
            <a:avLst>
              <a:gd name="adj" fmla="val 101127"/>
            </a:avLst>
          </a:prstGeom>
          <a:solidFill>
            <a:srgbClr val="FFAD94"/>
          </a:solidFill>
          <a:ln/>
        </p:spPr>
      </p:sp>
      <p:sp>
        <p:nvSpPr>
          <p:cNvPr id="12" name="Text 10"/>
          <p:cNvSpPr/>
          <p:nvPr/>
        </p:nvSpPr>
        <p:spPr>
          <a:xfrm>
            <a:off x="4948833" y="2606159"/>
            <a:ext cx="2025372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💡</a:t>
            </a: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Качество решения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48833" y="3159681"/>
            <a:ext cx="2025372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Оригинальность и практичность предложенного подхода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51353" y="3996571"/>
            <a:ext cx="2394942" cy="1457444"/>
          </a:xfrm>
          <a:prstGeom prst="roundRect">
            <a:avLst>
              <a:gd name="adj" fmla="val 5019"/>
            </a:avLst>
          </a:prstGeom>
          <a:solidFill>
            <a:srgbClr val="FFFFFF"/>
          </a:solidFill>
          <a:ln w="15240">
            <a:solidFill>
              <a:srgbClr val="E5BE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6113" y="3996571"/>
            <a:ext cx="60960" cy="1457444"/>
          </a:xfrm>
          <a:prstGeom prst="roundRect">
            <a:avLst>
              <a:gd name="adj" fmla="val 101127"/>
            </a:avLst>
          </a:prstGeom>
          <a:solidFill>
            <a:srgbClr val="FFAD94"/>
          </a:solidFill>
          <a:ln/>
        </p:spPr>
      </p:sp>
      <p:sp>
        <p:nvSpPr>
          <p:cNvPr id="16" name="Text 14"/>
          <p:cNvSpPr/>
          <p:nvPr/>
        </p:nvSpPr>
        <p:spPr>
          <a:xfrm>
            <a:off x="2458998" y="4158496"/>
            <a:ext cx="2025372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⚙️</a:t>
            </a: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Реализация прототипа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58998" y="4712018"/>
            <a:ext cx="2025372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Работоспособность и полнота минимального функционала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41188" y="3996571"/>
            <a:ext cx="2394942" cy="1457444"/>
          </a:xfrm>
          <a:prstGeom prst="roundRect">
            <a:avLst>
              <a:gd name="adj" fmla="val 5019"/>
            </a:avLst>
          </a:prstGeom>
          <a:solidFill>
            <a:srgbClr val="FFFFFF"/>
          </a:solidFill>
          <a:ln w="15240">
            <a:solidFill>
              <a:srgbClr val="E5BE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5948" y="3996571"/>
            <a:ext cx="60960" cy="1457444"/>
          </a:xfrm>
          <a:prstGeom prst="roundRect">
            <a:avLst>
              <a:gd name="adj" fmla="val 101127"/>
            </a:avLst>
          </a:prstGeom>
          <a:solidFill>
            <a:srgbClr val="FFAD94"/>
          </a:solidFill>
          <a:ln/>
        </p:spPr>
      </p:sp>
      <p:sp>
        <p:nvSpPr>
          <p:cNvPr id="20" name="Text 18"/>
          <p:cNvSpPr/>
          <p:nvPr/>
        </p:nvSpPr>
        <p:spPr>
          <a:xfrm>
            <a:off x="4948833" y="4158496"/>
            <a:ext cx="2025372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🖥</a:t>
            </a: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Удобство интерфейса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48833" y="4712018"/>
            <a:ext cx="202537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Интуитивность и визуальное качество UI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51353" y="5548908"/>
            <a:ext cx="2394942" cy="1457444"/>
          </a:xfrm>
          <a:prstGeom prst="roundRect">
            <a:avLst>
              <a:gd name="adj" fmla="val 5019"/>
            </a:avLst>
          </a:prstGeom>
          <a:solidFill>
            <a:srgbClr val="FFFFFF"/>
          </a:solidFill>
          <a:ln w="15240">
            <a:solidFill>
              <a:srgbClr val="E5BE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36113" y="5548908"/>
            <a:ext cx="60960" cy="1457444"/>
          </a:xfrm>
          <a:prstGeom prst="roundRect">
            <a:avLst>
              <a:gd name="adj" fmla="val 101127"/>
            </a:avLst>
          </a:prstGeom>
          <a:solidFill>
            <a:srgbClr val="FFAD94"/>
          </a:solidFill>
          <a:ln/>
        </p:spPr>
      </p:sp>
      <p:sp>
        <p:nvSpPr>
          <p:cNvPr id="24" name="Text 22"/>
          <p:cNvSpPr/>
          <p:nvPr/>
        </p:nvSpPr>
        <p:spPr>
          <a:xfrm>
            <a:off x="2458998" y="5710833"/>
            <a:ext cx="2025372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🎤</a:t>
            </a: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Качество презентации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58998" y="6264354"/>
            <a:ext cx="2025372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Структура, ясность и убедительность выступления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01890" y="2108121"/>
            <a:ext cx="2321004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Дополнительные баллы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01890" y="2444234"/>
            <a:ext cx="2394942" cy="1212890"/>
          </a:xfrm>
          <a:prstGeom prst="roundRect">
            <a:avLst>
              <a:gd name="adj" fmla="val 5083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56195" y="2598539"/>
            <a:ext cx="189190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🗂</a:t>
            </a: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Git-репозиторий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56195" y="2922746"/>
            <a:ext cx="2086332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Код, README и инструкция по запуску на GitHub или GitLab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991725" y="2444234"/>
            <a:ext cx="2394942" cy="1212890"/>
          </a:xfrm>
          <a:prstGeom prst="roundRect">
            <a:avLst>
              <a:gd name="adj" fmla="val 5083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6030" y="2598539"/>
            <a:ext cx="1834634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✨</a:t>
            </a: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Доп. функции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146030" y="2922746"/>
            <a:ext cx="2086332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Реализованный функционал сверх минимальных требований кейса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501890" y="3763923"/>
            <a:ext cx="4884777" cy="684609"/>
          </a:xfrm>
          <a:prstGeom prst="roundRect">
            <a:avLst>
              <a:gd name="adj" fmla="val 9005"/>
            </a:avLst>
          </a:prstGeom>
          <a:solidFill>
            <a:srgbClr val="FFC4B3"/>
          </a:solidFill>
          <a:ln/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75" y="3971330"/>
            <a:ext cx="183356" cy="146685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978616" y="3895487"/>
            <a:ext cx="426136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Удачи!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Доверяйте команде, смелее воплощайте идеи и помните: главное — создать что-то работающее 🚀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957</Words>
  <Application>Microsoft Office PowerPoint</Application>
  <PresentationFormat>Произвольный</PresentationFormat>
  <Paragraphs>187</Paragraphs>
  <Slides>15</Slides>
  <Notes>15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Дмитрий Овчинников</cp:lastModifiedBy>
  <cp:revision>5</cp:revision>
  <dcterms:created xsi:type="dcterms:W3CDTF">2026-03-16T19:52:36Z</dcterms:created>
  <dcterms:modified xsi:type="dcterms:W3CDTF">2026-03-18T08:22:37Z</dcterms:modified>
</cp:coreProperties>
</file>